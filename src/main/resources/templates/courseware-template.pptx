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大家好，今天我将向各位汇报关于[项目名称]的详细情况。本次汇报将涵盖项目的背景、目标、解决方案、实施计划等关键方面。希望通过这次汇报，能让大家对项目有一个全面而深入的了解。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九个部分。首先，我将介绍项目的整体情况；接着，会详细阐述我们的目标与挑战；然后，重点介绍我们的解决方案和实施计划；最后，将对团队、预算、风险和预期成果进行说明，并对项目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看项目概述。这个项目的启动，源于我们对市场机遇和挑战的洞察，以及公司内部战略发展的需要。我们的核心目标非常明确，就是通过实施特定的解决方案，达成具体的业务指标。这个项目不仅对业务有直接的推动作用，对客户和团队也具有重要的战略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我们的目标与挑战。我们的目标遵循SMART原则，具体、可衡量、可实现、相关且有明确的时限。为了衡量成功，我们设定了清晰的业务、运营和用户指标。当然，我们也清醒地认识到项目面临的技术、资源和市场等方面的挑战，这些都是我们需要重点关注和解决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上述挑战，我们提出了我们的解决方案。这是一个基于先进架构设计的系统，包含了多个核心功能模块。每个功能都精准地解决了特定的业务痛点，并为用户带来了切实的价值。在技术选型上，我们采用了主流且高效的技术栈，并在某些方面进行了创新，以确保方案的领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的实施计划。整个项目分为四个主要阶段：启动与规划、开发与测试、部署与上线，以及运营与优化。每个阶段都有明确的目标和关键里程碑，确保项目能够按计划、高质量地推进。这张甘特图清晰地展示了我们的时间安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的成功离不开一个专业的团队。这是我们的核心团队成员，他们在各自的领域都拥有丰富的经验和深厚的专业知识。我们的团队优势在于经验丰富、专业互补且协作高效，这为项目的顺利实施提供了坚实的保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关于预算和资源的部分。我们对项目的总预算进行了预估，主要包括人力资源、硬件成本、软件成本和运营成本等。这张表格详细列出了各项费用的明细。此外，项目的成功还需要一些关键的技术、数据和跨部门资源支持，我们也希望得到相关部门的协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对项目进行了全面的风险评估。我们识别出了技术、资源、进度和成本等方面的潜在风险，并对其可能性和影响程度进行了评估。针对每一个高风险项，我们都制定了相应的应对策略。我们将通过持续的监控和管理，确保项目风险处于可控范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那么，这个项目将为我们带来什么价值回报呢？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请看上半部分的量化成果，这是我们对业务最直接的贡献：我们预计在效率上，核心流程处理速度将提升超过30%；收入上，第一年就能带来500万以上的直接增量；同时，通过自动化手段每年节省120万的运营成本，并实现10万级的新用户增长。这些数字清晰地展示了项目的商业可行性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在下半部分的定性成果中，我们看重的是长期资产的积累：在战略层面，这将帮助我们建立“技术+数据”的双重壁垒；在客户层面，将显著提升客户满意度，建立品牌护城河；最后，对于团队而言，这不仅是一个项目，更是一次宝贵的实战演练，将沉淀出一套标准化的实施方法，为公司后续的扩张提供人才和方法论的双重支持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综合来看，无论是短期的财务回报，还是长期的战略与组织能力建设，该项目都具备极高的投入产出比。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进行总结与展望。总的来说，这个项目价值巨大、可行性高且风险可控。我们建议立即启动项目，并已规划了清晰的下一步行动计划。展望未来，我们相信这个项目不仅能在短期内达成目标，更能在长期为公司的发展开辟新的道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我的汇报到此结束，感谢各位的聆听。现在是问答环节，欢迎大家提问。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notesSlides/notesSlide9.xml" Type="http://schemas.openxmlformats.org/officeDocument/2006/relationships/notesSlid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55.png" Type="http://schemas.openxmlformats.org/officeDocument/2006/relationships/image"/><Relationship Id="rId13" Target="../media/image56.svg" Type="http://schemas.openxmlformats.org/officeDocument/2006/relationships/image"/><Relationship Id="rId14" Target="../media/image57.png" Type="http://schemas.openxmlformats.org/officeDocument/2006/relationships/image"/><Relationship Id="rId15" Target="../media/image58.svg" Type="http://schemas.openxmlformats.org/officeDocument/2006/relationships/image"/><Relationship Id="rId16" Target="../notesSlides/notesSlide10.xml" Type="http://schemas.openxmlformats.org/officeDocument/2006/relationships/notesSlid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588000" y="4318000"/>
            <a:ext cx="10160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Poppins"/>
                <a:ea typeface="Poppins"/>
                <a:cs typeface="Poppins"/>
                <a:sym typeface="Poppins"/>
              </a:rPr>
              <a:t>目录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302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76400"/>
            <a:ext cx="76200" cy="12827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0" y="1524000"/>
            <a:ext cx="3302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1676400"/>
            <a:ext cx="76200" cy="12827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0" y="1524000"/>
            <a:ext cx="3302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0" y="1676400"/>
            <a:ext cx="76200" cy="12827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429000"/>
            <a:ext cx="3302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581400"/>
            <a:ext cx="76200" cy="12827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3429000"/>
            <a:ext cx="3302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3581400"/>
            <a:ext cx="76200" cy="12827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3429000"/>
            <a:ext cx="3302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3581400"/>
            <a:ext cx="76200" cy="12827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080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232400"/>
            <a:ext cx="76200" cy="11557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45000" y="5080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445000" y="5232400"/>
            <a:ext cx="76200" cy="11557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5080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5232400"/>
            <a:ext cx="76200" cy="11557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778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4445000" y="1778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1590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128000" y="1778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15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778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4445000" y="1778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1590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128000" y="1778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ED89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159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4699000" y="2794000"/>
            <a:ext cx="279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699000" y="4508500"/>
            <a:ext cx="279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25908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25908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952500" y="2921000"/>
            <a:ext cx="22098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4445000"/>
            <a:ext cx="2209800" cy="1397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556000" y="1651000"/>
            <a:ext cx="25908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56000" y="1651000"/>
            <a:ext cx="25908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810000" y="203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746500" y="2921000"/>
            <a:ext cx="22098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46500" y="4445000"/>
            <a:ext cx="2209800" cy="1397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1651000"/>
            <a:ext cx="25908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651000"/>
            <a:ext cx="25908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540500" y="2921000"/>
            <a:ext cx="22098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40500" y="4445000"/>
            <a:ext cx="2209800" cy="1397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093200" y="1651000"/>
            <a:ext cx="25908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093200" y="1651000"/>
            <a:ext cx="25908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347200" y="2032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283700" y="2921000"/>
            <a:ext cx="22098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283700" y="4445000"/>
            <a:ext cx="2209800" cy="1397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3302000" cy="2667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445000" y="1651000"/>
            <a:ext cx="3302000" cy="2667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28000" y="1651000"/>
            <a:ext cx="3302000" cy="2667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4699000"/>
            <a:ext cx="5080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445000" y="4699000"/>
            <a:ext cx="5080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28000" y="4699000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397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667000"/>
            <a:ext cx="5207000" cy="3683000"/>
          </a:xfrm>
          <a:prstGeom prst="roundRect">
            <a:avLst>
              <a:gd name="adj" fmla="val 275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365500"/>
            <a:ext cx="381000" cy="381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223000" y="2667000"/>
            <a:ext cx="5207000" cy="3683000"/>
          </a:xfrm>
          <a:prstGeom prst="roundRect">
            <a:avLst>
              <a:gd name="adj" fmla="val 275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477000" y="3365500"/>
            <a:ext cx="381000" cy="381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477000" y="3683000"/>
            <a:ext cx="4699000" cy="825500"/>
          </a:xfrm>
          <a:prstGeom prst="roundRect">
            <a:avLst>
              <a:gd name="adj" fmla="val 9230"/>
            </a:avLst>
          </a:prstGeom>
          <a:solidFill>
            <a:srgbClr val="F0FFF4">
              <a:alpha val="100000"/>
            </a:srgbClr>
          </a:solidFill>
          <a:ln w="12700" cmpd="sng" cap="flat">
            <a:solidFill>
              <a:srgbClr val="C6F6D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667500" y="3848100"/>
            <a:ext cx="457200" cy="457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477000" y="4699000"/>
            <a:ext cx="4699000" cy="825500"/>
          </a:xfrm>
          <a:prstGeom prst="roundRect">
            <a:avLst>
              <a:gd name="adj" fmla="val 9230"/>
            </a:avLst>
          </a:prstGeom>
          <a:solidFill>
            <a:srgbClr val="EBF8FF">
              <a:alpha val="100000"/>
            </a:srgbClr>
          </a:solidFill>
          <a:ln w="12700" cmpd="sng" cap="flat">
            <a:solidFill>
              <a:srgbClr val="BEE3F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67500" y="48641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477000" y="5588000"/>
            <a:ext cx="4699000" cy="762000"/>
          </a:xfrm>
          <a:prstGeom prst="roundRect">
            <a:avLst>
              <a:gd name="adj" fmla="val 10000"/>
            </a:avLst>
          </a:prstGeom>
          <a:solidFill>
            <a:srgbClr val="FFF5F5">
              <a:alpha val="100000"/>
            </a:srgbClr>
          </a:solidFill>
          <a:ln w="12700" cmpd="sng" cap="flat">
            <a:solidFill>
              <a:srgbClr val="FED7D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667500" y="57404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524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76200" cy="20320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6223000" y="1524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23000" y="1524000"/>
            <a:ext cx="76200" cy="2032000"/>
          </a:xfrm>
          <a:prstGeom prst="roundRect">
            <a:avLst>
              <a:gd name="adj" fmla="val 0"/>
            </a:avLst>
          </a:prstGeom>
          <a:solidFill>
            <a:srgbClr val="ED89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7145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762000" y="3810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810000"/>
            <a:ext cx="76200" cy="20320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223000" y="3810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3810000"/>
            <a:ext cx="76200" cy="2032000"/>
          </a:xfrm>
          <a:prstGeom prst="roundRect">
            <a:avLst>
              <a:gd name="adj" fmla="val 0"/>
            </a:avLst>
          </a:prstGeom>
          <a:solidFill>
            <a:srgbClr val="ED893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0005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62000" y="6032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D374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61468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651000"/>
            <a:ext cx="2603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1905000"/>
            <a:ext cx="406400" cy="4064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 rot="0" flipH="false" flipV="false">
            <a:off x="3556000" y="1651000"/>
            <a:ext cx="2603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746500" y="1905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6350000" y="1651000"/>
            <a:ext cx="2603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540500" y="1905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9080500" y="1651000"/>
            <a:ext cx="2603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271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620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3815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635500" y="44450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001000" y="4191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255000" y="44450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778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4445000" y="1778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159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128000" y="1778000"/>
            <a:ext cx="3302000" cy="4318000"/>
          </a:xfrm>
          <a:prstGeom prst="roundRect">
            <a:avLst>
              <a:gd name="adj" fmla="val 0"/>
            </a:avLst>
          </a:prstGeom>
          <a:solidFill>
            <a:srgbClr val="F7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8BB7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159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016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2D3748"/>
                </a:solidFill>
                <a:latin typeface="Poppins"/>
                <a:ea typeface="Poppins"/>
                <a:cs typeface="Poppins"/>
                <a:sym typeface="Poppins"/>
              </a:rPr>
              <a:t>感谢聆听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413000"/>
            <a:ext cx="1219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48BB78"/>
                </a:solidFill>
                <a:latin typeface="Poppins"/>
                <a:ea typeface="Poppins"/>
                <a:cs typeface="Poppins"/>
                <a:sym typeface="Poppins"/>
              </a:rPr>
              <a:t>Q &amp; A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