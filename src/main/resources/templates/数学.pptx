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notesSlides/notesSlide1.xml" Type="http://schemas.openxmlformats.org/officeDocument/2006/relationships/notesSlide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35" Target="notesSlides/notesSlide13.xml" Type="http://schemas.openxmlformats.org/officeDocument/2006/relationships/notesSlide"/><Relationship Id="rId36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好，今天我们来学习一个非常重要的知识点——一元二次方程的解法。通过本节课的学习，我们将掌握两种核心的解题方法：配方法和公式法。这些方法不仅是解决数学问题的基础，在实际生活中也有着广泛的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让我们从一个实际问题开始。学校要建一个面积为150平方米的矩形花园，要求长比宽多5米。我们该如何求出它的长和宽呢？通过设未知数，我们可以列出方程 x(x+5)=150。整理后得到 x² + 5x - 150 = 0。这个方程就是我们今天要研究的一元二次方程。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正式学习之前，我们先明确一下本节课的学习目标。通过本节课的学习，我们不仅要掌握一元二次方程的两种解法，还要理解其背后的数学思想，并能运用这些知识解决实际问题。希望大家带着这些目标，积极思考，主动探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明确什么是一元二次方程。它必须满足三个条件：只含一个未知数，未知数的最高次数是2，并且是整式方程。大家看这几个例子，判断一下哪些是一元二次方程。通过练习，我们可以更深刻地理解定义中的关键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所有的一元二次方程都可以整理成一个统一的形式，我们称之为一般形式：ax² + bx + c = 0。这里的a、b、c分别是二次项系数、一次项系数和常数项。特别要注意，a绝对不能等于0，否则方程就不再是二次方程了。我们来看一个例子，如何将一个方程化为一般形式。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学习第一种解法——配方法。配方法的核心思想是“降次”，通过配方，把一个二次方程转化为我们熟悉的一次方程来解。它的理论依据是完全平方公式。大家看这五个步骤，理解每一步的目的，特别是第二步“配方”，这是整个方法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我们通过一个具体的例子来练习配方法。解方程 x² + 6x - 7 = 0。第一步移项，第二步配方，注意这里是加上一次项系数6的一半的平方，也就是9。第三步变形，左边变成了完全平方。第四步开方，得到x+3等于正负4。最后解两个一元一次方程，得到方程的两个解。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配方法虽然好用，但步骤比较繁琐。有没有更直接的方法呢？有，那就是公式法。这个求根公式是通过配方法推导出来的，它是解一元二次方程的“通法”。在使用公式前，我们需要计算判别式Δ，它的值决定了方程根的情况。大家要牢记这三种情况和公式法的四个步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我们来看第一个例题，用配方法解2x² - 4x - 1 = 0。这道题的二次项系数不是1，所以第一步我们要先把它化为1，方程两边同时除以2。剩下的步骤就和之前一样了，移项、配方、变形、开方、求解。注意开方后要对结果进行化简。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第二个例题，我们用公式法来解3x² + 5x - 2 = 0。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首先，第一步确定系数，对照标准形式，a是3，b是5，c是-2。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第二步计算判别式，我们算出Delta等于49，是一个正数。这意味着，这个方程有两个不相等的实数根。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第三步，将系数代入求根公式，得到分子是负5加减7，分母是6。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最后，我们分开计算加号和减号两种情况，得到最终两个解：三分之一和负二。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大家看，公式法是不是非常直接高效？只要计算细心，就能准确求出结果。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好了，理论和例题都讲完了，现在是大家大显身手的时候了。这里有三道练习题，难度由浅入深，请大家选择合适的方法来解答。做完后我们一起来对答案，并分析解题思路。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程接近尾声，我们来总结一下本节课的核心内容。我们学习了一个概念——一元二次方程，两种解法——配方法和公式法，以及一个关键——根的判别式。更重要的是，我们体会到了转化和分类讨论这两种重要的数学思想。希望大家能将这些知识融会贯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最后，是今天的课后作业。作业分为基础巩固、能力提升和拓展应用三个层次，希望大家认真完成。特别是拓展应用的第五题，回到我们开头的花园问题，看看你现在能不能用今天学到的方法解决它。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最后，送给大家一句名言：“数学是思维的体操”。希望通过今天的学习，大家不仅掌握了知识，更锻炼了思维。今天的课就到这里，感谢大家的聆听！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2.xml" Type="http://schemas.openxmlformats.org/officeDocument/2006/relationships/notesSlid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5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874000" y="0"/>
            <a:ext cx="4318000" cy="6858000"/>
          </a:xfrm>
          <a:prstGeom prst="roundRect">
            <a:avLst>
              <a:gd name="adj" fmla="val 0"/>
            </a:avLst>
          </a:prstGeom>
          <a:solidFill>
            <a:srgbClr val="4A5568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4826000"/>
            <a:ext cx="1524000" cy="762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397000"/>
            <a:ext cx="10668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3175000"/>
            <a:ext cx="3302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445000" y="3175000"/>
            <a:ext cx="3302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128000" y="3175000"/>
            <a:ext cx="3302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0800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355600" cy="3556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1016000" y="2667000"/>
            <a:ext cx="508000" cy="381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1968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4699000" y="2667000"/>
            <a:ext cx="508000" cy="381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19685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8382000" y="2667000"/>
            <a:ext cx="508000" cy="381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39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794000"/>
            <a:ext cx="3302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304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4445000" y="2794000"/>
            <a:ext cx="3302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3048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128000" y="2794000"/>
            <a:ext cx="3302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18500" y="3048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62000" y="46990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397000"/>
            <a:ext cx="5207000" cy="4953000"/>
          </a:xfrm>
          <a:prstGeom prst="roundRect">
            <a:avLst>
              <a:gd name="adj" fmla="val 3076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651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175000"/>
            <a:ext cx="1473200" cy="1397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628900" y="3175000"/>
            <a:ext cx="1473200" cy="1397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241800" y="3175000"/>
            <a:ext cx="1473200" cy="1397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95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EEBC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06500" y="52705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223000" y="1397000"/>
            <a:ext cx="5207000" cy="4953000"/>
          </a:xfrm>
          <a:prstGeom prst="roundRect">
            <a:avLst>
              <a:gd name="adj" fmla="val 3076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6764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477000" y="3048000"/>
            <a:ext cx="4699000" cy="165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4953000"/>
            <a:ext cx="4699000" cy="1143000"/>
          </a:xfrm>
          <a:prstGeom prst="roundRect">
            <a:avLst>
              <a:gd name="adj" fmla="val 6666"/>
            </a:avLst>
          </a:prstGeom>
          <a:solidFill>
            <a:srgbClr val="EBF8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524000"/>
            <a:ext cx="3302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355600" cy="3556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1016000" y="2540000"/>
            <a:ext cx="508000" cy="381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0" y="1524000"/>
            <a:ext cx="3302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1841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4699000" y="2540000"/>
            <a:ext cx="508000" cy="381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0" y="1524000"/>
            <a:ext cx="3302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18415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8382000" y="2540000"/>
            <a:ext cx="508000" cy="381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524000"/>
            <a:ext cx="5207000" cy="3429000"/>
          </a:xfrm>
          <a:prstGeom prst="roundRect">
            <a:avLst>
              <a:gd name="adj" fmla="val 4444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223000" y="1524000"/>
            <a:ext cx="5207000" cy="3429000"/>
          </a:xfrm>
          <a:prstGeom prst="roundRect">
            <a:avLst>
              <a:gd name="adj" fmla="val 4444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334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5626100"/>
            <a:ext cx="5588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355600" cy="3556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1016000" y="3810000"/>
            <a:ext cx="2794000" cy="1651000"/>
          </a:xfrm>
          <a:prstGeom prst="roundRect">
            <a:avLst>
              <a:gd name="adj" fmla="val 6153"/>
            </a:avLst>
          </a:prstGeom>
          <a:solidFill>
            <a:srgbClr val="EBF8FF">
              <a:alpha val="100000"/>
            </a:srgbClr>
          </a:solidFill>
          <a:ln w="12700" cmpd="sng" cap="flat">
            <a:solidFill>
              <a:srgbClr val="BEE3F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1968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4699000" y="3556000"/>
            <a:ext cx="2794000" cy="762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99000" y="4572000"/>
            <a:ext cx="2794000" cy="762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99000" y="5461000"/>
            <a:ext cx="2794000" cy="762000"/>
          </a:xfrm>
          <a:prstGeom prst="roundRect">
            <a:avLst>
              <a:gd name="adj" fmla="val 10000"/>
            </a:avLst>
          </a:prstGeom>
          <a:solidFill>
            <a:srgbClr val="FE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19685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397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EDF2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612900"/>
            <a:ext cx="304800" cy="3048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2540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540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381500" y="2540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81500" y="2540000"/>
            <a:ext cx="76200" cy="1778000"/>
          </a:xfrm>
          <a:prstGeom prst="roundRect">
            <a:avLst>
              <a:gd name="adj" fmla="val 0"/>
            </a:avLst>
          </a:prstGeom>
          <a:solidFill>
            <a:srgbClr val="6366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01000" y="2540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01000" y="2540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572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57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4572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81500" y="457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4572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457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397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612900"/>
            <a:ext cx="330200" cy="3302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2540000"/>
            <a:ext cx="3429000" cy="1651000"/>
          </a:xfrm>
          <a:prstGeom prst="roundRect">
            <a:avLst>
              <a:gd name="adj" fmla="val 9230"/>
            </a:avLst>
          </a:prstGeom>
          <a:solidFill>
            <a:srgbClr val="EDF2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381500" y="2540000"/>
            <a:ext cx="3429000" cy="1651000"/>
          </a:xfrm>
          <a:prstGeom prst="roundRect">
            <a:avLst>
              <a:gd name="adj" fmla="val 9230"/>
            </a:avLst>
          </a:prstGeom>
          <a:solidFill>
            <a:srgbClr val="EDF2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001000" y="2540000"/>
            <a:ext cx="3429000" cy="1651000"/>
          </a:xfrm>
          <a:prstGeom prst="roundRect">
            <a:avLst>
              <a:gd name="adj" fmla="val 9230"/>
            </a:avLst>
          </a:prstGeom>
          <a:solidFill>
            <a:srgbClr val="EDF2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445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EF3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4445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EF3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5969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3683000"/>
            <a:ext cx="2794000" cy="889000"/>
          </a:xfrm>
          <a:prstGeom prst="roundRect">
            <a:avLst>
              <a:gd name="adj" fmla="val 11428"/>
            </a:avLst>
          </a:prstGeom>
          <a:solidFill>
            <a:srgbClr val="EDF2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699000" y="3683000"/>
            <a:ext cx="2794000" cy="889000"/>
          </a:xfrm>
          <a:prstGeom prst="roundRect">
            <a:avLst>
              <a:gd name="adj" fmla="val 11428"/>
            </a:avLst>
          </a:prstGeom>
          <a:solidFill>
            <a:srgbClr val="EDF2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382000" y="3683000"/>
            <a:ext cx="2794000" cy="889000"/>
          </a:xfrm>
          <a:prstGeom prst="roundRect">
            <a:avLst>
              <a:gd name="adj" fmla="val 11428"/>
            </a:avLst>
          </a:prstGeom>
          <a:solidFill>
            <a:srgbClr val="EDF2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524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288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6223000" y="1524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23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8288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762000" y="4191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19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4958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223000" y="4191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419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44958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556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826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感谢聆听！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