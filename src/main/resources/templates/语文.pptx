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notesSlides/notesSlide1.xml" Type="http://schemas.openxmlformats.org/officeDocument/2006/relationships/notesSlide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36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好，今天我们将一同走进毛泽东的诗词世界，学习他青年时期的代表作——《沁园春·长沙》。这首词不仅描绘了一幅壮丽的湘江秋景图，更抒发了一代伟人以天下为己任的豪情壮志。让我们一起感受这首词的磅礴气势和深邃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要理解这首词，我们首先要了解它的作者——毛泽东。他不仅是伟大的无产阶级革命家，也是一位杰出的诗人。他的诗词充满了革命的激情和豪迈的气概。长沙这座城市，对青年毛泽东有着特殊的意义，是他革命生涯的起点，也是他思想成长的摇篮。橘子洲头的湘江，也成为了他寄托理想、抒发壮志的地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首词写于1925年晚秋。当时，中国正处于大革命的高潮，革命形势一片大好，但反动势力的镇压也异常残酷。毛泽东本人正因领导农民运动而被军阀通缉。在离开长沙的途中，他重游橘子洲头，面对眼前的壮丽景色，回忆起往昔的峥嵘岁月，感慨万千，于是写下了这首不朽的词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在深入赏析之前，让我们先一起来朗读这首词。请注意屏幕上标注的拼音，特别是“舸”、“寥廓”、“峥嵘”、“遒”、“遏”这些字的读音。朗读时要注意节奏和停顿，感受词的韵律和情感基调。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词的上阕。开篇三句，作者为我们描绘了一幅人物剪影：深秋时节，诗人独自站立在橘子洲头，望着北去的湘江。接着，一个“看”字，引出了一幅壮丽的秋景图。远处的山，红叶似火；近处的江，碧绿清澈，百舸争流。这“红”与“碧”的鲜明对比，展现了一个充满生机的秋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着，作者的视线转向了天空和水底。雄鹰搏击长空，游鱼翱翔浅底，万物在霜天之下竞相展示着生命的自由。这正是词人眼中的秋天，一个充满生机与竞争的季节。面对此情此景，词人发出了振聋发聩的一问：“问苍茫大地，谁主沉浮？”这个问题，既是对中国命运的叩问，也展现了他主宰国家命运的雄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阕，作者的思绪回到了过去。他回忆起曾经和众多同伴一起在长沙游历的日子，那些不平凡的岁月历历在目。他描绘了一幅青年革命者的群像：他们正值青春年少，风华正茂，充满了理想和激情，敢于指点江山，激扬文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他们指点江山，激扬文字，把那些军阀权贵视为粪土，这是何等的豪迈！最后，作者用一个设问结尾：“曾记否，到中流击水，浪遏飞舟？”这不仅是回忆当年游泳的情景，更是一种象征，象征着革命青年敢于在时代洪流中搏击风浪的勇气和自信。这也正是对“谁主沉浮”这个问题的响亮回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这首词的主旨是什么呢？它抒发了作者对祖国山河的热爱，更表达了他以天下为己任、改造旧世界的豪情壮志。词中蕴含着对革命形势的乐观判断，对青年力量的坚定信念，以及对历史使命的自觉担当。这是一代伟人青春的誓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从艺术特色来看，这首词堪称典范。它选取宏大而富有生命力的意象，来抒发豪情壮志。在表现手法上，情景交融、虚实结合、动静结合，使得意境深远。语言上，用词精准，气势磅礴，具有极强的感染力。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来思考几个问题。第一个问题，这首词的秋景和我们熟悉的“悲秋”诗词有什么不同？这体现了作者怎样的情怀？第二个问题，词中的两个问句有什么联系？作者是如何回答第一个问题的？大家可以分组讨论一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课程接近尾声，我们来总结一下。《沁园春·长沙》是一曲青春的赞歌，一幅壮丽的画卷，更是一篇充满哲理的宣言。它展现了青年毛泽东的博大胸襟和豪迈气概，激励着一代又一代的青年人奋发向上。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今天的课后作业有两项。必做题是熟读背诵全词，并掌握重点词语。选做题是写一篇读后感，或者尝试用现代诗描绘你眼中的秋天。希望大家认真完成。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最后，让我们以毛泽东另一首词中的名句结束今天的课程：“数风流人物，还看今朝。”希望同学们能从伟人的青春之歌中汲取力量，担当起属于我们这个时代的责任。感谢大家的聆听！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2.jpeg" Type="http://schemas.openxmlformats.org/officeDocument/2006/relationships/image"/><Relationship Id="rId3" Target="../notesSlides/notesSlide14.xml" Type="http://schemas.openxmlformats.org/officeDocument/2006/relationships/notesSlide"/><Relationship Id="rId4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-109386" r="0" b="-109386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E4057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318000" y="1778000"/>
            <a:ext cx="7112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4572000" y="2032000"/>
            <a:ext cx="457200" cy="4572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4318000" y="3429000"/>
            <a:ext cx="7112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3683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4318000" y="5080000"/>
            <a:ext cx="7112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72000" y="53340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1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5334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2E405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4191000"/>
            <a:ext cx="5334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19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2E405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1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E4057">
                <a:alpha val="25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223000" y="1651000"/>
            <a:ext cx="5207000" cy="4572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E4057">
                <a:alpha val="25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1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9CFC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76200" cy="4572000"/>
          </a:xfrm>
          <a:prstGeom prst="roundRect">
            <a:avLst>
              <a:gd name="adj" fmla="val 0"/>
            </a:avLst>
          </a:prstGeom>
          <a:solidFill>
            <a:srgbClr val="2E405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223000" y="1651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9CFC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223000" y="1651000"/>
            <a:ext cx="76200" cy="4572000"/>
          </a:xfrm>
          <a:prstGeom prst="roundRect">
            <a:avLst>
              <a:gd name="adj" fmla="val 0"/>
            </a:avLst>
          </a:prstGeom>
          <a:solidFill>
            <a:srgbClr val="C039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1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6DBD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52500" y="2032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E9ED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6DBD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13500" y="2032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E9ED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1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778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E4057">
                <a:alpha val="2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3048000"/>
            <a:ext cx="508000" cy="38100"/>
          </a:xfrm>
          <a:prstGeom prst="roundRect">
            <a:avLst>
              <a:gd name="adj" fmla="val 0"/>
            </a:avLst>
          </a:prstGeom>
          <a:solidFill>
            <a:srgbClr val="B91C1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223000" y="1778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E4057">
                <a:alpha val="2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77000" y="3238500"/>
            <a:ext cx="508000" cy="38100"/>
          </a:xfrm>
          <a:prstGeom prst="roundRect">
            <a:avLst>
              <a:gd name="adj" fmla="val 0"/>
            </a:avLst>
          </a:prstGeom>
          <a:solidFill>
            <a:srgbClr val="B91C1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334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“ 指点江山，激扬文字，粪土当年万户侯 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毛泽东 · 《沁园春·长沙》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1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E405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下阕赏析：峥嵘岁月图 (二)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AD3C4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66800" y="2209800"/>
            <a:ext cx="50800" cy="355600"/>
          </a:xfrm>
          <a:prstGeom prst="roundRect">
            <a:avLst>
              <a:gd name="adj" fmla="val 0"/>
            </a:avLst>
          </a:prstGeom>
          <a:solidFill>
            <a:srgbClr val="2E405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AD3C4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527800" y="2209800"/>
            <a:ext cx="50800" cy="355600"/>
          </a:xfrm>
          <a:prstGeom prst="roundRect">
            <a:avLst>
              <a:gd name="adj" fmla="val 0"/>
            </a:avLst>
          </a:prstGeom>
          <a:solidFill>
            <a:srgbClr val="A83E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524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E8E2D5">
              <a:alpha val="100000"/>
            </a:srgbClr>
          </a:solidFill>
          <a:ln w="12700" cmpd="sng" cap="flat">
            <a:solidFill>
              <a:srgbClr val="2E405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57200" cy="4572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3556000"/>
            <a:ext cx="3302000" cy="2667000"/>
          </a:xfrm>
          <a:prstGeom prst="roundRect">
            <a:avLst>
              <a:gd name="adj" fmla="val 476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4CDC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4445000" y="3556000"/>
            <a:ext cx="3302000" cy="2667000"/>
          </a:xfrm>
          <a:prstGeom prst="roundRect">
            <a:avLst>
              <a:gd name="adj" fmla="val 476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4CDC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699000" y="3810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128000" y="3556000"/>
            <a:ext cx="3302000" cy="2667000"/>
          </a:xfrm>
          <a:prstGeom prst="roundRect">
            <a:avLst>
              <a:gd name="adj" fmla="val 476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4CDC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382000" y="3810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E405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E405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E405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1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E4057">
                <a:alpha val="3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E4057">
                <a:alpha val="3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778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BD4C9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159000"/>
            <a:ext cx="406400" cy="4064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4445000" y="1778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BD4C9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49800" y="2159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128000" y="1778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BD4C9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32800" y="2159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1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EFEBE1">
              <a:alpha val="100000"/>
            </a:srgbClr>
          </a:solidFill>
          <a:ln w="12700" cmpd="sng" cap="flat">
            <a:solidFill>
              <a:srgbClr val="2E4057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159000"/>
            <a:ext cx="76200" cy="381000"/>
          </a:xfrm>
          <a:prstGeom prst="roundRect">
            <a:avLst>
              <a:gd name="adj" fmla="val 0"/>
            </a:avLst>
          </a:prstGeom>
          <a:solidFill>
            <a:srgbClr val="C8A27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EFEBE1">
              <a:alpha val="100000"/>
            </a:srgbClr>
          </a:solidFill>
          <a:ln w="12700" cmpd="sng" cap="flat">
            <a:solidFill>
              <a:srgbClr val="2E4057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77000" y="2159000"/>
            <a:ext cx="76200" cy="381000"/>
          </a:xfrm>
          <a:prstGeom prst="roundRect">
            <a:avLst>
              <a:gd name="adj" fmla="val 0"/>
            </a:avLst>
          </a:prstGeom>
          <a:solidFill>
            <a:srgbClr val="6A857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24583" t="0" r="-24583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3429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感谢聆听！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5461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 spc="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 FOR LISTENING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